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8" r:id="rId10"/>
    <p:sldId id="271" r:id="rId11"/>
    <p:sldId id="269" r:id="rId12"/>
    <p:sldId id="270" r:id="rId13"/>
    <p:sldId id="272" r:id="rId14"/>
    <p:sldId id="273" r:id="rId15"/>
    <p:sldId id="275" r:id="rId16"/>
    <p:sldId id="276" r:id="rId17"/>
    <p:sldId id="274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50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nom.intra.org.mx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0"/>
            <a:ext cx="11777472" cy="685800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88552" y="0"/>
            <a:ext cx="3200400" cy="1645920"/>
          </a:xfrm>
          <a:prstGeom prst="rect">
            <a:avLst/>
          </a:prstGeom>
          <a:solidFill>
            <a:srgbClr val="13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79992" y="320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3C4CE"/>
                </a:solidFill>
                <a:latin typeface="Calibri"/>
              </a:rPr>
              <a:t>NOM-035-STPS-2018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79992" y="685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4BBCF"/>
                </a:solidFill>
                <a:latin typeface="Calibri"/>
              </a:rPr>
              <a:t>Factores de Riesgo Psicosocial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18000" cy="283464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4EDF6"/>
                </a:solidFill>
                <a:latin typeface="Calibri Light"/>
              </a:rPr>
              <a:t>Manual de Usuario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3C4CE"/>
                </a:solidFill>
                <a:latin typeface="Calibri Light"/>
              </a:rPr>
              <a:t>Plataforma Intra NOM-035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777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4BBCF"/>
                </a:solidFill>
                <a:latin typeface="Calibri"/>
              </a:rPr>
              <a:t>Guía de </a:t>
            </a:r>
            <a:r>
              <a:rPr sz="1400" b="0" i="0" dirty="0" err="1">
                <a:solidFill>
                  <a:srgbClr val="A4BBCF"/>
                </a:solidFill>
                <a:latin typeface="Calibri"/>
              </a:rPr>
              <a:t>operación</a:t>
            </a:r>
            <a:r>
              <a:rPr sz="1400" b="0" i="0" dirty="0">
                <a:solidFill>
                  <a:srgbClr val="A4BBCF"/>
                </a:solidFill>
                <a:latin typeface="Calibri"/>
              </a:rPr>
              <a:t> para </a:t>
            </a:r>
            <a:r>
              <a:rPr sz="1400" b="0" i="0" dirty="0" err="1">
                <a:solidFill>
                  <a:srgbClr val="A4BBCF"/>
                </a:solidFill>
                <a:latin typeface="Calibri"/>
              </a:rPr>
              <a:t>empresa</a:t>
            </a:r>
            <a:r>
              <a:rPr sz="1400" b="0" i="0" dirty="0">
                <a:solidFill>
                  <a:srgbClr val="A4BBCF"/>
                </a:solidFill>
                <a:latin typeface="Calibri"/>
              </a:rPr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4BBCF"/>
                </a:solidFill>
                <a:latin typeface="Calibri"/>
              </a:rPr>
              <a:t>Versión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552" y="4297680"/>
            <a:ext cx="3017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A4BBCF"/>
                </a:solidFill>
                <a:latin typeface="Calibri"/>
              </a:rPr>
              <a:t>© 202</a:t>
            </a:r>
            <a:r>
              <a:rPr lang="es-ES" sz="1100" b="0" i="0" dirty="0">
                <a:solidFill>
                  <a:srgbClr val="A4BBCF"/>
                </a:solidFill>
                <a:latin typeface="Calibri"/>
              </a:rPr>
              <a:t>6</a:t>
            </a:r>
            <a:r>
              <a:rPr sz="1100" b="0" i="0" dirty="0">
                <a:solidFill>
                  <a:srgbClr val="A4BBCF"/>
                </a:solidFill>
                <a:latin typeface="Calibri"/>
              </a:rPr>
              <a:t> · Uso </a:t>
            </a:r>
            <a:r>
              <a:rPr sz="1100" b="0" i="0" dirty="0" err="1">
                <a:solidFill>
                  <a:srgbClr val="A4BBCF"/>
                </a:solidFill>
                <a:latin typeface="Calibri"/>
              </a:rPr>
              <a:t>interno</a:t>
            </a:r>
            <a:endParaRPr sz="1100" b="0" i="0" dirty="0">
              <a:solidFill>
                <a:srgbClr val="A4BBCF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399" y="4846320"/>
            <a:ext cx="3412067" cy="1097280"/>
          </a:xfrm>
          <a:prstGeom prst="rect">
            <a:avLst/>
          </a:prstGeom>
          <a:solidFill>
            <a:srgbClr val="131D33"/>
          </a:solidFill>
          <a:ln w="12700">
            <a:solidFill>
              <a:srgbClr val="1E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hlinkClick r:id="rId2"/>
              </a:rPr>
              <a:t>https://www.nom.intra.org.mx/</a:t>
            </a:r>
            <a:endParaRPr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A61ACFCF-A8AD-B2FB-96D7-930103A3C1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7228" b="24526"/>
          <a:stretch>
            <a:fillRect/>
          </a:stretch>
        </p:blipFill>
        <p:spPr>
          <a:xfrm>
            <a:off x="8828764" y="590683"/>
            <a:ext cx="1656356" cy="18781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4BBCF"/>
                </a:solidFill>
                <a:latin typeface="Calibri"/>
              </a:rPr>
              <a:t>2  /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E4EDF6"/>
                </a:solidFill>
                <a:latin typeface="Calibri Light"/>
              </a:rPr>
              <a:t>Contenido</a:t>
            </a:r>
            <a:r>
              <a:rPr sz="2600" b="1" i="0" dirty="0">
                <a:solidFill>
                  <a:srgbClr val="E4EDF6"/>
                </a:solidFill>
                <a:latin typeface="Calibri Light"/>
              </a:rPr>
              <a:t> del manual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60587" y="1065835"/>
            <a:ext cx="384048" cy="384048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b="1" dirty="0">
                <a:solidFill>
                  <a:srgbClr val="FFFFFF"/>
                </a:solidFill>
                <a:latin typeface="Calibri"/>
              </a:rPr>
              <a:t>1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3507" y="102011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4EDF6"/>
                </a:solidFill>
                <a:latin typeface="Calibri"/>
              </a:rPr>
              <a:t>Acceso y configuración inicial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507" y="1367587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4BBCF"/>
                </a:solidFill>
                <a:latin typeface="Calibri"/>
              </a:rPr>
              <a:t>Inicio de sesión, perfil de empresa y ciclos NOM</a:t>
            </a:r>
          </a:p>
        </p:txBody>
      </p:sp>
      <p:sp>
        <p:nvSpPr>
          <p:cNvPr id="10" name="Oval 9"/>
          <p:cNvSpPr/>
          <p:nvPr/>
        </p:nvSpPr>
        <p:spPr>
          <a:xfrm>
            <a:off x="460587" y="2300275"/>
            <a:ext cx="384048" cy="384048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b="1" dirty="0">
                <a:solidFill>
                  <a:srgbClr val="FFFFFF"/>
                </a:solidFill>
                <a:latin typeface="Calibri"/>
              </a:rPr>
              <a:t>2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3507" y="225455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E4EDF6"/>
                </a:solidFill>
                <a:latin typeface="Calibri"/>
              </a:rPr>
              <a:t>Gestión</a:t>
            </a:r>
            <a:r>
              <a:rPr sz="1300" b="1" i="0" dirty="0">
                <a:solidFill>
                  <a:srgbClr val="E4EDF6"/>
                </a:solidFill>
                <a:latin typeface="Calibri"/>
              </a:rPr>
              <a:t> de </a:t>
            </a:r>
            <a:r>
              <a:rPr sz="1300" b="1" i="0" dirty="0" err="1">
                <a:solidFill>
                  <a:srgbClr val="E4EDF6"/>
                </a:solidFill>
                <a:latin typeface="Calibri"/>
              </a:rPr>
              <a:t>trabajadores</a:t>
            </a:r>
            <a:endParaRPr sz="1300" b="1" i="0" dirty="0">
              <a:solidFill>
                <a:srgbClr val="E4EDF6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3507" y="2602027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A4BBCF"/>
                </a:solidFill>
                <a:latin typeface="Calibri"/>
              </a:rPr>
              <a:t>Alta, </a:t>
            </a:r>
            <a:r>
              <a:rPr sz="1000" b="0" i="0" dirty="0" err="1">
                <a:solidFill>
                  <a:srgbClr val="A4BBCF"/>
                </a:solidFill>
                <a:latin typeface="Calibri"/>
              </a:rPr>
              <a:t>importación</a:t>
            </a:r>
            <a:r>
              <a:rPr sz="1000" b="0" i="0" dirty="0">
                <a:solidFill>
                  <a:srgbClr val="A4BBCF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4BBCF"/>
                </a:solidFill>
                <a:latin typeface="Calibri"/>
              </a:rPr>
              <a:t>desde</a:t>
            </a:r>
            <a:r>
              <a:rPr sz="1000" b="0" i="0" dirty="0">
                <a:solidFill>
                  <a:srgbClr val="A4BBCF"/>
                </a:solidFill>
                <a:latin typeface="Calibri"/>
              </a:rPr>
              <a:t> Excel y </a:t>
            </a:r>
            <a:r>
              <a:rPr sz="1000" b="0" i="0" dirty="0" err="1">
                <a:solidFill>
                  <a:srgbClr val="A4BBCF"/>
                </a:solidFill>
                <a:latin typeface="Calibri"/>
              </a:rPr>
              <a:t>datos</a:t>
            </a:r>
            <a:r>
              <a:rPr sz="1000" b="0" i="0" dirty="0">
                <a:solidFill>
                  <a:srgbClr val="A4BBCF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4BBCF"/>
                </a:solidFill>
                <a:latin typeface="Calibri"/>
              </a:rPr>
              <a:t>demográficos</a:t>
            </a:r>
            <a:endParaRPr sz="1000" b="0" i="0" dirty="0">
              <a:solidFill>
                <a:srgbClr val="A4BBCF"/>
              </a:solidFill>
              <a:latin typeface="Calibri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60587" y="3534715"/>
            <a:ext cx="384048" cy="384048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b="1" dirty="0">
                <a:solidFill>
                  <a:srgbClr val="FFFFFF"/>
                </a:solidFill>
                <a:latin typeface="Calibri"/>
              </a:rPr>
              <a:t>3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3507" y="348899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4EDF6"/>
                </a:solidFill>
                <a:latin typeface="Calibri"/>
              </a:rPr>
              <a:t>Cuestionarios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507" y="3836467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4BBCF"/>
                </a:solidFill>
                <a:latin typeface="Calibri"/>
              </a:rPr>
              <a:t>Asignación, envío de ligas y seguimiento de respuestas</a:t>
            </a:r>
          </a:p>
        </p:txBody>
      </p:sp>
      <p:sp>
        <p:nvSpPr>
          <p:cNvPr id="16" name="Oval 15"/>
          <p:cNvSpPr/>
          <p:nvPr/>
        </p:nvSpPr>
        <p:spPr>
          <a:xfrm>
            <a:off x="460587" y="4769155"/>
            <a:ext cx="384048" cy="384048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b="1" dirty="0">
                <a:solidFill>
                  <a:srgbClr val="FFFFFF"/>
                </a:solidFill>
                <a:latin typeface="Calibri"/>
              </a:rPr>
              <a:t>4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3507" y="472343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E4EDF6"/>
                </a:solidFill>
                <a:latin typeface="Calibri"/>
              </a:rPr>
              <a:t>Resultados</a:t>
            </a:r>
            <a:r>
              <a:rPr sz="1300" b="1" i="0" dirty="0">
                <a:solidFill>
                  <a:srgbClr val="E4EDF6"/>
                </a:solidFill>
                <a:latin typeface="Calibri"/>
              </a:rPr>
              <a:t> y </a:t>
            </a:r>
            <a:r>
              <a:rPr sz="1300" b="1" i="0" dirty="0" err="1">
                <a:solidFill>
                  <a:srgbClr val="E4EDF6"/>
                </a:solidFill>
                <a:latin typeface="Calibri"/>
              </a:rPr>
              <a:t>diagnóstico</a:t>
            </a:r>
            <a:endParaRPr sz="1300" b="1" i="0" dirty="0">
              <a:solidFill>
                <a:srgbClr val="E4EDF6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3507" y="504381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4BBCF"/>
                </a:solidFill>
                <a:latin typeface="Calibri"/>
              </a:rPr>
              <a:t>Dashboard analítico, niveles de riesgo y gráficas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731752" y="978120"/>
            <a:ext cx="18000" cy="521208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15">
            <a:extLst>
              <a:ext uri="{FF2B5EF4-FFF2-40B4-BE49-F238E27FC236}">
                <a16:creationId xmlns:a16="http://schemas.microsoft.com/office/drawing/2014/main" id="{A12C1D1F-06DA-4D57-81F3-9F076A192280}"/>
              </a:ext>
            </a:extLst>
          </p:cNvPr>
          <p:cNvSpPr/>
          <p:nvPr/>
        </p:nvSpPr>
        <p:spPr>
          <a:xfrm>
            <a:off x="460587" y="5792165"/>
            <a:ext cx="384048" cy="384048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b="1" dirty="0">
                <a:solidFill>
                  <a:srgbClr val="FFFFFF"/>
                </a:solidFill>
                <a:latin typeface="Calibri"/>
              </a:rPr>
              <a:t>5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836EFCAE-CBA2-FBF3-1FB0-6E4368D845B3}"/>
              </a:ext>
            </a:extLst>
          </p:cNvPr>
          <p:cNvSpPr txBox="1"/>
          <p:nvPr/>
        </p:nvSpPr>
        <p:spPr>
          <a:xfrm>
            <a:off x="955548" y="5655005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300" b="1" i="0" dirty="0">
                <a:solidFill>
                  <a:srgbClr val="E4EDF6"/>
                </a:solidFill>
                <a:latin typeface="Calibri"/>
              </a:rPr>
              <a:t>Responder cuestionarios</a:t>
            </a:r>
            <a:endParaRPr sz="1300" b="1" i="0" dirty="0">
              <a:solidFill>
                <a:srgbClr val="E4EDF6"/>
              </a:solidFill>
              <a:latin typeface="Calibri"/>
            </a:endParaRP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6EE8477B-8029-F432-33D0-913F279C42AD}"/>
              </a:ext>
            </a:extLst>
          </p:cNvPr>
          <p:cNvSpPr txBox="1"/>
          <p:nvPr/>
        </p:nvSpPr>
        <p:spPr>
          <a:xfrm>
            <a:off x="947589" y="5923475"/>
            <a:ext cx="4937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000" b="0" i="0" dirty="0">
                <a:solidFill>
                  <a:srgbClr val="A4BBCF"/>
                </a:solidFill>
                <a:latin typeface="Calibri"/>
              </a:rPr>
              <a:t>Lo que sucede al abrir el link</a:t>
            </a:r>
            <a:endParaRPr sz="1000" b="0" i="0" dirty="0">
              <a:solidFill>
                <a:srgbClr val="A4BBC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457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 i="0">
                <a:solidFill>
                  <a:srgbClr val="029AA2"/>
                </a:solidFill>
                <a:latin typeface="Calibri Ligh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0116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C4CE"/>
                </a:solidFill>
                <a:latin typeface="Calibri"/>
              </a:rPr>
              <a:t>MÓDULO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51460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4EDF6"/>
                </a:solidFill>
                <a:latin typeface="Calibri Light"/>
              </a:rPr>
              <a:t>Acceso y configuración inicial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2900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4BBCF"/>
                </a:solidFill>
                <a:latin typeface="Calibri"/>
              </a:rPr>
              <a:t>3  / 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4BBCF"/>
                </a:solidFill>
                <a:latin typeface="Calibri"/>
              </a:rPr>
              <a:t>4  /  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0" cy="256032"/>
          </a:xfrm>
          <a:prstGeom prst="rect">
            <a:avLst/>
          </a:prstGeom>
          <a:solidFill>
            <a:srgbClr val="001D1E"/>
          </a:solidFill>
          <a:ln w="9525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31089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C4CE"/>
                </a:solidFill>
                <a:latin typeface="Calibri"/>
              </a:rPr>
              <a:t>MÓDULO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4EDF6"/>
                </a:solidFill>
                <a:latin typeface="Calibri Light"/>
              </a:rPr>
              <a:t>Inicio de sesión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" y="1417320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380744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4EDF6"/>
                </a:solidFill>
                <a:latin typeface="Calibri"/>
              </a:rPr>
              <a:t>Ingresa la URL de la plataforma en tu navegador.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468880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32304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4EDF6"/>
                </a:solidFill>
                <a:latin typeface="Calibri"/>
              </a:rPr>
              <a:t>Escribe tu usuario y contraseña asignados.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0440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483864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4EDF6"/>
                </a:solidFill>
                <a:latin typeface="Calibri"/>
              </a:rPr>
              <a:t>Haz clic en Iniciar sesión.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4572000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535424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4EDF6"/>
                </a:solidFill>
                <a:latin typeface="Calibri"/>
              </a:rPr>
              <a:t>Si olvidaste tu contraseña, usa el enlace
'Recuperar acceso' en la pantalla de login.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760720"/>
            <a:ext cx="5029200" cy="685800"/>
          </a:xfrm>
          <a:prstGeom prst="rect">
            <a:avLst/>
          </a:prstGeom>
          <a:solidFill>
            <a:srgbClr val="131D33"/>
          </a:solidFill>
          <a:ln w="12700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4BBCF"/>
                </a:solidFill>
                <a:latin typeface="Calibri"/>
              </a:rPr>
              <a:t>ⓘ  Tu administrador de sistema te proporcionará las credenciales iniciales.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398744"/>
            <a:ext cx="6263640" cy="3655856"/>
          </a:xfrm>
          <a:prstGeom prst="rect">
            <a:avLst/>
          </a:prstGeom>
          <a:solidFill>
            <a:srgbClr val="EEF2FA"/>
          </a:solidFill>
          <a:ln w="19050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0" y="3152140"/>
            <a:ext cx="608076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E8BAA"/>
                </a:solidFill>
                <a:latin typeface="Calibri"/>
              </a:rPr>
              <a:t>Insertar captura de pantalla aquí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0D381524-945E-08FD-E996-13230D009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724" y="1468958"/>
            <a:ext cx="6013756" cy="34811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4BBCF"/>
                </a:solidFill>
                <a:latin typeface="Calibri"/>
              </a:rPr>
              <a:t>5  /  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001D1E"/>
          </a:solidFill>
          <a:ln w="9525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274320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C4CE"/>
                </a:solidFill>
                <a:latin typeface="Calibri"/>
              </a:rPr>
              <a:t>MÓDULO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E4EDF6"/>
                </a:solidFill>
                <a:latin typeface="Calibri Light"/>
              </a:rPr>
              <a:t>Dashboard de</a:t>
            </a:r>
            <a:r>
              <a:rPr lang="es-ES" sz="2200" b="1" i="0" dirty="0">
                <a:solidFill>
                  <a:srgbClr val="E4EDF6"/>
                </a:solidFill>
                <a:latin typeface="Calibri Light"/>
              </a:rPr>
              <a:t> Inicial</a:t>
            </a:r>
            <a:endParaRPr sz="2200" b="1" i="0" dirty="0">
              <a:solidFill>
                <a:srgbClr val="E4EDF6"/>
              </a:solidFill>
              <a:latin typeface="Calibri Ligh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4BBCF"/>
                </a:solidFill>
                <a:latin typeface="Calibri"/>
              </a:rPr>
              <a:t>Vista general del </a:t>
            </a:r>
            <a:r>
              <a:rPr sz="1200" b="0" i="0" dirty="0" err="1">
                <a:solidFill>
                  <a:srgbClr val="A4BBCF"/>
                </a:solidFill>
                <a:latin typeface="Calibri"/>
              </a:rPr>
              <a:t>diagnóstico</a:t>
            </a:r>
            <a:r>
              <a:rPr sz="1200" b="0" i="0" dirty="0">
                <a:solidFill>
                  <a:srgbClr val="A4BBC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4BBCF"/>
                </a:solidFill>
                <a:latin typeface="Calibri"/>
              </a:rPr>
              <a:t>analítico</a:t>
            </a:r>
            <a:r>
              <a:rPr sz="1200" b="0" i="0" dirty="0">
                <a:solidFill>
                  <a:srgbClr val="A4BBCF"/>
                </a:solidFill>
                <a:latin typeface="Calibri"/>
              </a:rPr>
              <a:t> NOM-035 </a:t>
            </a:r>
            <a:r>
              <a:rPr sz="1200" b="0" i="0" dirty="0" err="1">
                <a:solidFill>
                  <a:srgbClr val="A4BBCF"/>
                </a:solidFill>
                <a:latin typeface="Calibri"/>
              </a:rPr>
              <a:t>por</a:t>
            </a:r>
            <a:r>
              <a:rPr sz="1200" b="0" i="0" dirty="0">
                <a:solidFill>
                  <a:srgbClr val="A4BBC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4BBCF"/>
                </a:solidFill>
                <a:latin typeface="Calibri"/>
              </a:rPr>
              <a:t>ciclo</a:t>
            </a:r>
            <a:r>
              <a:rPr sz="1200" b="0" i="0" dirty="0">
                <a:solidFill>
                  <a:srgbClr val="A4BBCF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627632"/>
            <a:ext cx="11183112" cy="4846320"/>
          </a:xfrm>
          <a:prstGeom prst="rect">
            <a:avLst/>
          </a:prstGeom>
          <a:solidFill>
            <a:srgbClr val="EEF2FA"/>
          </a:solidFill>
          <a:ln w="19050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796792"/>
            <a:ext cx="11000232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E8BAA"/>
                </a:solidFill>
                <a:latin typeface="Calibri"/>
              </a:rPr>
              <a:t>Insertar captura del Dashboard de Resultados aquí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803E737-371E-06E5-8963-07D84ABD5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04" y="2027923"/>
            <a:ext cx="10144815" cy="3824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137BCE-CD8C-2057-F953-0917CC9DB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142C02-92D6-8372-AD9E-B51FA897A2D7}"/>
              </a:ext>
            </a:extLst>
          </p:cNvPr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853940-918D-7412-FD85-7F4198B80444}"/>
              </a:ext>
            </a:extLst>
          </p:cNvPr>
          <p:cNvSpPr txBox="1"/>
          <p:nvPr/>
        </p:nvSpPr>
        <p:spPr>
          <a:xfrm>
            <a:off x="91440" y="457200"/>
            <a:ext cx="33832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 i="0" dirty="0">
                <a:solidFill>
                  <a:srgbClr val="029AA2"/>
                </a:solidFill>
                <a:latin typeface="Calibri Light"/>
              </a:rPr>
              <a:t>0</a:t>
            </a:r>
            <a:r>
              <a:rPr lang="es-ES" sz="18000" b="1" i="0" dirty="0">
                <a:solidFill>
                  <a:srgbClr val="029AA2"/>
                </a:solidFill>
                <a:latin typeface="Calibri Light"/>
              </a:rPr>
              <a:t>2</a:t>
            </a:r>
            <a:endParaRPr sz="18000" b="1" i="0" dirty="0">
              <a:solidFill>
                <a:srgbClr val="029AA2"/>
              </a:solidFill>
              <a:latin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E25C7-66E4-653A-FDE1-7D41B436C72E}"/>
              </a:ext>
            </a:extLst>
          </p:cNvPr>
          <p:cNvSpPr txBox="1"/>
          <p:nvPr/>
        </p:nvSpPr>
        <p:spPr>
          <a:xfrm>
            <a:off x="3931920" y="2011680"/>
            <a:ext cx="7772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3C4CE"/>
                </a:solidFill>
                <a:latin typeface="Calibri"/>
              </a:rPr>
              <a:t>MÓDULO 0</a:t>
            </a:r>
            <a:r>
              <a:rPr lang="es-ES" sz="1300" b="1" i="0" dirty="0">
                <a:solidFill>
                  <a:srgbClr val="03C4CE"/>
                </a:solidFill>
                <a:latin typeface="Calibri"/>
              </a:rPr>
              <a:t>2</a:t>
            </a:r>
            <a:endParaRPr sz="1300" b="1" i="0" dirty="0">
              <a:solidFill>
                <a:srgbClr val="03C4CE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40756-2667-C9E2-7FC6-0E0BF4DD119C}"/>
              </a:ext>
            </a:extLst>
          </p:cNvPr>
          <p:cNvSpPr txBox="1"/>
          <p:nvPr/>
        </p:nvSpPr>
        <p:spPr>
          <a:xfrm>
            <a:off x="3931920" y="2514600"/>
            <a:ext cx="7955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600" b="1" dirty="0">
                <a:solidFill>
                  <a:srgbClr val="E4EDF6"/>
                </a:solidFill>
              </a:rPr>
              <a:t>Gestión de trabajadores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8847C4-4C24-2602-1B37-8A8B1182B548}"/>
              </a:ext>
            </a:extLst>
          </p:cNvPr>
          <p:cNvSpPr/>
          <p:nvPr/>
        </p:nvSpPr>
        <p:spPr>
          <a:xfrm>
            <a:off x="457200" y="342900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69B2B6-746A-B2D8-61B0-A0856C3A5D59}"/>
              </a:ext>
            </a:extLst>
          </p:cNvPr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4BBCF"/>
                </a:solidFill>
                <a:latin typeface="Calibri"/>
              </a:rPr>
              <a:t>3  /  9</a:t>
            </a:r>
          </a:p>
        </p:txBody>
      </p:sp>
    </p:spTree>
    <p:extLst>
      <p:ext uri="{BB962C8B-B14F-4D97-AF65-F5344CB8AC3E}">
        <p14:creationId xmlns:p14="http://schemas.microsoft.com/office/powerpoint/2010/main" val="3847480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26D78-6713-688B-956D-D346E8C65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60A23-3E29-54B7-8D57-FBBE9CD75F03}"/>
              </a:ext>
            </a:extLst>
          </p:cNvPr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12B03A-22F5-842B-BC12-1CA93A4A9688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B5887-FF41-CF0A-6073-D12335CD537A}"/>
              </a:ext>
            </a:extLst>
          </p:cNvPr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4BBCF"/>
                </a:solidFill>
                <a:latin typeface="Calibri"/>
              </a:rPr>
              <a:t>4  / 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159E59-7939-F843-01A3-E52377FE2CF3}"/>
              </a:ext>
            </a:extLst>
          </p:cNvPr>
          <p:cNvSpPr/>
          <p:nvPr/>
        </p:nvSpPr>
        <p:spPr>
          <a:xfrm>
            <a:off x="502920" y="292608"/>
            <a:ext cx="1463040" cy="256032"/>
          </a:xfrm>
          <a:prstGeom prst="rect">
            <a:avLst/>
          </a:prstGeom>
          <a:solidFill>
            <a:srgbClr val="001D1E"/>
          </a:solidFill>
          <a:ln w="9525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E64D9C-C166-CB21-0118-0E5DCBE4B126}"/>
              </a:ext>
            </a:extLst>
          </p:cNvPr>
          <p:cNvSpPr txBox="1"/>
          <p:nvPr/>
        </p:nvSpPr>
        <p:spPr>
          <a:xfrm>
            <a:off x="576072" y="310896"/>
            <a:ext cx="13167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03C4CE"/>
                </a:solidFill>
                <a:latin typeface="Calibri"/>
              </a:rPr>
              <a:t>MÓDULO 0</a:t>
            </a:r>
            <a:r>
              <a:rPr lang="es-ES" sz="800" b="1" i="0" dirty="0">
                <a:solidFill>
                  <a:srgbClr val="03C4CE"/>
                </a:solidFill>
                <a:latin typeface="Calibri"/>
              </a:rPr>
              <a:t>2</a:t>
            </a:r>
            <a:endParaRPr sz="800" b="1" i="0" dirty="0">
              <a:solidFill>
                <a:srgbClr val="03C4CE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C31A34-B126-0AF1-2FAB-DD16765CA36B}"/>
              </a:ext>
            </a:extLst>
          </p:cNvPr>
          <p:cNvSpPr txBox="1"/>
          <p:nvPr/>
        </p:nvSpPr>
        <p:spPr>
          <a:xfrm>
            <a:off x="502920" y="6583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dirty="0">
                <a:solidFill>
                  <a:srgbClr val="E4EDF6"/>
                </a:solidFill>
                <a:latin typeface="Calibri Light"/>
              </a:rPr>
              <a:t>Modulo Trabajadores</a:t>
            </a:r>
            <a:endParaRPr sz="2400" b="1" i="0" dirty="0">
              <a:solidFill>
                <a:srgbClr val="E4EDF6"/>
              </a:solidFill>
              <a:latin typeface="Calibri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FA8CD2-2D90-5B1E-6724-417559D0AA52}"/>
              </a:ext>
            </a:extLst>
          </p:cNvPr>
          <p:cNvSpPr/>
          <p:nvPr/>
        </p:nvSpPr>
        <p:spPr>
          <a:xfrm>
            <a:off x="457200" y="123444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F8D1B3A-F667-F02A-271E-8D201F37053F}"/>
              </a:ext>
            </a:extLst>
          </p:cNvPr>
          <p:cNvSpPr/>
          <p:nvPr/>
        </p:nvSpPr>
        <p:spPr>
          <a:xfrm>
            <a:off x="502920" y="1417320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EC9ED5-34F3-F171-F151-62098F093A10}"/>
              </a:ext>
            </a:extLst>
          </p:cNvPr>
          <p:cNvSpPr txBox="1"/>
          <p:nvPr/>
        </p:nvSpPr>
        <p:spPr>
          <a:xfrm>
            <a:off x="987552" y="138074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200" b="0" i="0" dirty="0">
                <a:solidFill>
                  <a:srgbClr val="E4EDF6"/>
                </a:solidFill>
                <a:latin typeface="Calibri"/>
              </a:rPr>
              <a:t>Aquí encontraras la información detallada de tus trabajadores, esta información se te solicita en formato Excel.</a:t>
            </a:r>
            <a:endParaRPr sz="1200" b="0" i="0" dirty="0">
              <a:solidFill>
                <a:srgbClr val="E4EDF6"/>
              </a:solidFill>
              <a:latin typeface="Calibri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3E130A8-AD9F-0739-65EE-89A119ABA1B6}"/>
              </a:ext>
            </a:extLst>
          </p:cNvPr>
          <p:cNvSpPr/>
          <p:nvPr/>
        </p:nvSpPr>
        <p:spPr>
          <a:xfrm>
            <a:off x="502920" y="2468880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C6C673-849F-4482-79F9-B2FBDF2456C7}"/>
              </a:ext>
            </a:extLst>
          </p:cNvPr>
          <p:cNvSpPr txBox="1"/>
          <p:nvPr/>
        </p:nvSpPr>
        <p:spPr>
          <a:xfrm>
            <a:off x="987552" y="243230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200" b="0" i="0" dirty="0">
                <a:solidFill>
                  <a:srgbClr val="E4EDF6"/>
                </a:solidFill>
                <a:latin typeface="Calibri"/>
              </a:rPr>
              <a:t>Desde el botón nuevo trabajador es posible agregar trabajadores manualmente.</a:t>
            </a:r>
            <a:endParaRPr sz="1200" b="0" i="0" dirty="0">
              <a:solidFill>
                <a:srgbClr val="E4EDF6"/>
              </a:solidFill>
              <a:latin typeface="Calibri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D9FFF0E-1180-0790-E72B-C19A43D2CE26}"/>
              </a:ext>
            </a:extLst>
          </p:cNvPr>
          <p:cNvSpPr/>
          <p:nvPr/>
        </p:nvSpPr>
        <p:spPr>
          <a:xfrm>
            <a:off x="502920" y="3327076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553CBF-CBD2-A873-AC86-F2809EC3DC1F}"/>
              </a:ext>
            </a:extLst>
          </p:cNvPr>
          <p:cNvSpPr txBox="1"/>
          <p:nvPr/>
        </p:nvSpPr>
        <p:spPr>
          <a:xfrm>
            <a:off x="987552" y="329050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200" dirty="0">
                <a:solidFill>
                  <a:srgbClr val="E4EDF6"/>
                </a:solidFill>
                <a:latin typeface="Calibri"/>
              </a:rPr>
              <a:t>Cada apartado de trabajador cuenta con 4 botones.</a:t>
            </a:r>
            <a:endParaRPr sz="1200" b="0" i="0" dirty="0">
              <a:solidFill>
                <a:srgbClr val="E4EDF6"/>
              </a:solidFill>
              <a:latin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F6ACF2-36EC-5E79-29CA-8E208324AFCE}"/>
              </a:ext>
            </a:extLst>
          </p:cNvPr>
          <p:cNvSpPr/>
          <p:nvPr/>
        </p:nvSpPr>
        <p:spPr>
          <a:xfrm>
            <a:off x="5669280" y="1398744"/>
            <a:ext cx="6263640" cy="3655856"/>
          </a:xfrm>
          <a:prstGeom prst="rect">
            <a:avLst/>
          </a:prstGeom>
          <a:solidFill>
            <a:srgbClr val="EEF2FA"/>
          </a:solidFill>
          <a:ln w="19050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267FA7-68A3-0E29-449C-F89AA089F708}"/>
              </a:ext>
            </a:extLst>
          </p:cNvPr>
          <p:cNvSpPr txBox="1"/>
          <p:nvPr/>
        </p:nvSpPr>
        <p:spPr>
          <a:xfrm>
            <a:off x="5760720" y="3152140"/>
            <a:ext cx="608076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E8BAA"/>
                </a:solidFill>
                <a:latin typeface="Calibri"/>
              </a:rPr>
              <a:t>Insertar captura de pantalla aquí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0125A5A1-6EBE-60B1-D627-628BB098F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1421384"/>
            <a:ext cx="6157121" cy="3498088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65CE08D1-7EE4-ECC2-7168-D06C219C8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44" y="3649842"/>
            <a:ext cx="3212151" cy="487817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74311A78-EFD1-FDFF-C119-F34616E6F30D}"/>
              </a:ext>
            </a:extLst>
          </p:cNvPr>
          <p:cNvSpPr txBox="1"/>
          <p:nvPr/>
        </p:nvSpPr>
        <p:spPr>
          <a:xfrm>
            <a:off x="628565" y="4182361"/>
            <a:ext cx="42336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AutoNum type="arabicPeriod"/>
            </a:pPr>
            <a:r>
              <a:rPr lang="es-ES" sz="1200" dirty="0">
                <a:solidFill>
                  <a:srgbClr val="E4EDF6"/>
                </a:solidFill>
                <a:latin typeface="Calibri"/>
              </a:rPr>
              <a:t>El botón de visualizar nos permite ver los datos de el trabajador</a:t>
            </a:r>
          </a:p>
          <a:p>
            <a:pPr marL="228600" indent="-228600" algn="l">
              <a:buAutoNum type="arabicPeriod"/>
            </a:pPr>
            <a:r>
              <a:rPr lang="es-ES" sz="1200" b="0" i="0" dirty="0">
                <a:solidFill>
                  <a:srgbClr val="E4EDF6"/>
                </a:solidFill>
                <a:latin typeface="Calibri"/>
              </a:rPr>
              <a:t>El botón de switch nos permite de</a:t>
            </a:r>
            <a:r>
              <a:rPr lang="es-ES" sz="1200" dirty="0">
                <a:solidFill>
                  <a:srgbClr val="E4EDF6"/>
                </a:solidFill>
                <a:latin typeface="Calibri"/>
              </a:rPr>
              <a:t>sactivar o activar el trabajador, al ser desactivado ya no participa en las muestras.</a:t>
            </a:r>
          </a:p>
          <a:p>
            <a:pPr marL="228600" indent="-228600" algn="l">
              <a:buAutoNum type="arabicPeriod"/>
            </a:pPr>
            <a:r>
              <a:rPr lang="es-ES" sz="1200" b="0" i="0" dirty="0">
                <a:solidFill>
                  <a:srgbClr val="E4EDF6"/>
                </a:solidFill>
                <a:latin typeface="Calibri"/>
              </a:rPr>
              <a:t>El botón de e</a:t>
            </a:r>
            <a:r>
              <a:rPr lang="es-ES" sz="1200" dirty="0">
                <a:solidFill>
                  <a:srgbClr val="E4EDF6"/>
                </a:solidFill>
                <a:latin typeface="Calibri"/>
              </a:rPr>
              <a:t>ditar nos permite editar datos del trabajador</a:t>
            </a:r>
          </a:p>
          <a:p>
            <a:pPr marL="228600" indent="-228600" algn="l">
              <a:buAutoNum type="arabicPeriod"/>
            </a:pPr>
            <a:r>
              <a:rPr lang="es-ES" sz="1200" b="0" i="0" dirty="0">
                <a:solidFill>
                  <a:srgbClr val="E4EDF6"/>
                </a:solidFill>
                <a:latin typeface="Calibri"/>
              </a:rPr>
              <a:t>El botón de eliminar elimina al trabajador de la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2547773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2F801-A8C1-0EBD-CC78-3F424786E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DCECBD-ADE2-39A7-F902-2B1ED68A9BFB}"/>
              </a:ext>
            </a:extLst>
          </p:cNvPr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08CD9-F121-DEBB-832A-DA2183265814}"/>
              </a:ext>
            </a:extLst>
          </p:cNvPr>
          <p:cNvSpPr txBox="1"/>
          <p:nvPr/>
        </p:nvSpPr>
        <p:spPr>
          <a:xfrm>
            <a:off x="91440" y="457200"/>
            <a:ext cx="33832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 i="0" dirty="0">
                <a:solidFill>
                  <a:srgbClr val="029AA2"/>
                </a:solidFill>
                <a:latin typeface="Calibri Light"/>
              </a:rPr>
              <a:t>0</a:t>
            </a:r>
            <a:r>
              <a:rPr lang="es-ES" sz="18000" b="1" dirty="0">
                <a:solidFill>
                  <a:srgbClr val="029AA2"/>
                </a:solidFill>
                <a:latin typeface="Calibri Light"/>
              </a:rPr>
              <a:t>3</a:t>
            </a:r>
            <a:endParaRPr sz="18000" b="1" i="0" dirty="0">
              <a:solidFill>
                <a:srgbClr val="029AA2"/>
              </a:solidFill>
              <a:latin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1B2F08-C1A7-5945-DC71-0B1E77A5A3AD}"/>
              </a:ext>
            </a:extLst>
          </p:cNvPr>
          <p:cNvSpPr txBox="1"/>
          <p:nvPr/>
        </p:nvSpPr>
        <p:spPr>
          <a:xfrm>
            <a:off x="3931920" y="2011680"/>
            <a:ext cx="7772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3C4CE"/>
                </a:solidFill>
                <a:latin typeface="Calibri"/>
              </a:rPr>
              <a:t>MÓDULO 0</a:t>
            </a:r>
            <a:r>
              <a:rPr lang="es-ES" sz="1300" b="1" dirty="0">
                <a:solidFill>
                  <a:srgbClr val="03C4CE"/>
                </a:solidFill>
                <a:latin typeface="Calibri"/>
              </a:rPr>
              <a:t>3</a:t>
            </a:r>
            <a:endParaRPr sz="1300" b="1" i="0" dirty="0">
              <a:solidFill>
                <a:srgbClr val="03C4CE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12E08-5DE0-6898-B0CC-3299429A2D7D}"/>
              </a:ext>
            </a:extLst>
          </p:cNvPr>
          <p:cNvSpPr txBox="1"/>
          <p:nvPr/>
        </p:nvSpPr>
        <p:spPr>
          <a:xfrm>
            <a:off x="3931920" y="2514600"/>
            <a:ext cx="7955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600" b="1" dirty="0">
                <a:solidFill>
                  <a:srgbClr val="E4EDF6"/>
                </a:solidFill>
              </a:rPr>
              <a:t>Cuestionarios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F0C9A9-8E36-D689-715E-43D37FA47EE4}"/>
              </a:ext>
            </a:extLst>
          </p:cNvPr>
          <p:cNvSpPr/>
          <p:nvPr/>
        </p:nvSpPr>
        <p:spPr>
          <a:xfrm>
            <a:off x="457200" y="342900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F8FBE1-D261-69E1-521D-9147454407F3}"/>
              </a:ext>
            </a:extLst>
          </p:cNvPr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4BBCF"/>
                </a:solidFill>
                <a:latin typeface="Calibri"/>
              </a:rPr>
              <a:t>3  /  9</a:t>
            </a:r>
          </a:p>
        </p:txBody>
      </p:sp>
    </p:spTree>
    <p:extLst>
      <p:ext uri="{BB962C8B-B14F-4D97-AF65-F5344CB8AC3E}">
        <p14:creationId xmlns:p14="http://schemas.microsoft.com/office/powerpoint/2010/main" val="3150730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7ED0A-BB0B-FEF9-FF0E-6FD7CE154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F1C878-5866-6C02-5BA0-5D3F39AE7DA1}"/>
              </a:ext>
            </a:extLst>
          </p:cNvPr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3A5D6E-1211-3881-572F-D7475F4A89D8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3DFCD-BF6F-264D-B5DB-B19436F478A2}"/>
              </a:ext>
            </a:extLst>
          </p:cNvPr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4BBCF"/>
                </a:solidFill>
                <a:latin typeface="Calibri"/>
              </a:rPr>
              <a:t>4  / 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E905F4-0380-B2CF-2E86-808192D67759}"/>
              </a:ext>
            </a:extLst>
          </p:cNvPr>
          <p:cNvSpPr/>
          <p:nvPr/>
        </p:nvSpPr>
        <p:spPr>
          <a:xfrm>
            <a:off x="502920" y="292608"/>
            <a:ext cx="1463040" cy="256032"/>
          </a:xfrm>
          <a:prstGeom prst="rect">
            <a:avLst/>
          </a:prstGeom>
          <a:solidFill>
            <a:srgbClr val="001D1E"/>
          </a:solidFill>
          <a:ln w="9525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59FFC7-EAA9-3739-1557-C2E23A4B9363}"/>
              </a:ext>
            </a:extLst>
          </p:cNvPr>
          <p:cNvSpPr txBox="1"/>
          <p:nvPr/>
        </p:nvSpPr>
        <p:spPr>
          <a:xfrm>
            <a:off x="576072" y="310896"/>
            <a:ext cx="13167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03C4CE"/>
                </a:solidFill>
                <a:latin typeface="Calibri"/>
              </a:rPr>
              <a:t>MÓDULO 0</a:t>
            </a:r>
            <a:r>
              <a:rPr lang="es-ES" sz="800" b="1" dirty="0">
                <a:solidFill>
                  <a:srgbClr val="03C4CE"/>
                </a:solidFill>
                <a:latin typeface="Calibri"/>
              </a:rPr>
              <a:t>3</a:t>
            </a:r>
            <a:endParaRPr sz="800" b="1" i="0" dirty="0">
              <a:solidFill>
                <a:srgbClr val="03C4CE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F3A813-653E-100C-EBAD-B7FE0605B126}"/>
              </a:ext>
            </a:extLst>
          </p:cNvPr>
          <p:cNvSpPr txBox="1"/>
          <p:nvPr/>
        </p:nvSpPr>
        <p:spPr>
          <a:xfrm>
            <a:off x="502920" y="6583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dirty="0">
                <a:solidFill>
                  <a:srgbClr val="E4EDF6"/>
                </a:solidFill>
                <a:latin typeface="Calibri Light"/>
              </a:rPr>
              <a:t>Modulo Cuestionarios</a:t>
            </a:r>
            <a:endParaRPr sz="2400" b="1" i="0" dirty="0">
              <a:solidFill>
                <a:srgbClr val="E4EDF6"/>
              </a:solidFill>
              <a:latin typeface="Calibri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1D102B-9200-F405-6879-E9CC4FC10B93}"/>
              </a:ext>
            </a:extLst>
          </p:cNvPr>
          <p:cNvSpPr/>
          <p:nvPr/>
        </p:nvSpPr>
        <p:spPr>
          <a:xfrm>
            <a:off x="457200" y="123444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0678AD2-5C32-ED44-4171-0DF491B16731}"/>
              </a:ext>
            </a:extLst>
          </p:cNvPr>
          <p:cNvSpPr/>
          <p:nvPr/>
        </p:nvSpPr>
        <p:spPr>
          <a:xfrm>
            <a:off x="502920" y="1417320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F66008-ED00-7D41-71FC-D7F11AEFA2A4}"/>
              </a:ext>
            </a:extLst>
          </p:cNvPr>
          <p:cNvSpPr txBox="1"/>
          <p:nvPr/>
        </p:nvSpPr>
        <p:spPr>
          <a:xfrm>
            <a:off x="987552" y="1380744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200" dirty="0">
                <a:solidFill>
                  <a:srgbClr val="E4EDF6"/>
                </a:solidFill>
                <a:latin typeface="Calibri"/>
              </a:rPr>
              <a:t>Los links de cuestionarios van seriados. Es decir al terminar una guía nos redirecciona automáticamente hacía la siguiente. (V,III,I es el orden correcto).</a:t>
            </a:r>
            <a:br>
              <a:rPr lang="es-ES" sz="1200" dirty="0">
                <a:solidFill>
                  <a:srgbClr val="E4EDF6"/>
                </a:solidFill>
                <a:latin typeface="Calibri"/>
              </a:rPr>
            </a:br>
            <a:r>
              <a:rPr lang="es-ES" sz="1200" dirty="0">
                <a:solidFill>
                  <a:srgbClr val="E4EDF6"/>
                </a:solidFill>
                <a:latin typeface="Calibri"/>
              </a:rPr>
              <a:t>En caso de que tenga que ser aplicada la guía en días distintos, hay que mandar el enlace de la guía a contestar únicamente. </a:t>
            </a:r>
            <a:endParaRPr sz="1200" b="0" i="0" dirty="0">
              <a:solidFill>
                <a:srgbClr val="E4EDF6"/>
              </a:solidFill>
              <a:latin typeface="Calibri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26517F-30DB-7CF6-127C-0AA637BA598C}"/>
              </a:ext>
            </a:extLst>
          </p:cNvPr>
          <p:cNvSpPr/>
          <p:nvPr/>
        </p:nvSpPr>
        <p:spPr>
          <a:xfrm>
            <a:off x="502920" y="2468880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1DB64D-0B80-B9A0-FAEA-8C5C338DA1B4}"/>
              </a:ext>
            </a:extLst>
          </p:cNvPr>
          <p:cNvSpPr txBox="1"/>
          <p:nvPr/>
        </p:nvSpPr>
        <p:spPr>
          <a:xfrm>
            <a:off x="987552" y="2498575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200" b="0" i="0" dirty="0">
                <a:solidFill>
                  <a:srgbClr val="E4EDF6"/>
                </a:solidFill>
                <a:latin typeface="Calibri"/>
              </a:rPr>
              <a:t>Se puede ver el progreso de cada trabajador individualmente.</a:t>
            </a:r>
            <a:endParaRPr sz="1200" b="0" i="0" dirty="0">
              <a:solidFill>
                <a:srgbClr val="E4EDF6"/>
              </a:solidFill>
              <a:latin typeface="Calibri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6084E3-2D03-E044-52A2-02C79C33BAD6}"/>
              </a:ext>
            </a:extLst>
          </p:cNvPr>
          <p:cNvSpPr/>
          <p:nvPr/>
        </p:nvSpPr>
        <p:spPr>
          <a:xfrm>
            <a:off x="502920" y="3327076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65E055-6B59-5579-B0B1-AF1532872669}"/>
              </a:ext>
            </a:extLst>
          </p:cNvPr>
          <p:cNvSpPr txBox="1"/>
          <p:nvPr/>
        </p:nvSpPr>
        <p:spPr>
          <a:xfrm>
            <a:off x="987552" y="32905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200" dirty="0">
                <a:solidFill>
                  <a:srgbClr val="E4EDF6"/>
                </a:solidFill>
                <a:latin typeface="Calibri"/>
              </a:rPr>
              <a:t>Si se presiona el botón de reinicio en la fila de algún trabajador, se eliminaran todas las respuestas de este mismo.</a:t>
            </a:r>
            <a:endParaRPr sz="1200" b="0" i="0" dirty="0">
              <a:solidFill>
                <a:srgbClr val="E4EDF6"/>
              </a:solidFill>
              <a:latin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1C6BC2-A78A-3E65-9A5D-7ECEE0591355}"/>
              </a:ext>
            </a:extLst>
          </p:cNvPr>
          <p:cNvSpPr/>
          <p:nvPr/>
        </p:nvSpPr>
        <p:spPr>
          <a:xfrm>
            <a:off x="5669280" y="1398744"/>
            <a:ext cx="6263640" cy="3655856"/>
          </a:xfrm>
          <a:prstGeom prst="rect">
            <a:avLst/>
          </a:prstGeom>
          <a:solidFill>
            <a:srgbClr val="EEF2FA"/>
          </a:solidFill>
          <a:ln w="19050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09EA43-689F-3A81-F26B-B1846B1E0B28}"/>
              </a:ext>
            </a:extLst>
          </p:cNvPr>
          <p:cNvSpPr txBox="1"/>
          <p:nvPr/>
        </p:nvSpPr>
        <p:spPr>
          <a:xfrm>
            <a:off x="5760720" y="3152140"/>
            <a:ext cx="608076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E8BAA"/>
                </a:solidFill>
                <a:latin typeface="Calibri"/>
              </a:rPr>
              <a:t>Insertar captura de pantalla aquí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0C7208DF-E466-670A-2AC7-294CF97D4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03939"/>
            <a:ext cx="6264412" cy="365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281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57BFDD-91B0-AEE5-1886-80B390629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3947B8-B315-B93E-028A-74CB6062E7A3}"/>
              </a:ext>
            </a:extLst>
          </p:cNvPr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A981F7-ACED-3135-3C59-C3D6173E5CEF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0A0105-CE33-1541-4AF3-D14E8BCC2579}"/>
              </a:ext>
            </a:extLst>
          </p:cNvPr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4BBCF"/>
                </a:solidFill>
                <a:latin typeface="Calibri"/>
              </a:rPr>
              <a:t>4  / 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B922FA-704D-EBA4-8785-BE7D5F86B0C3}"/>
              </a:ext>
            </a:extLst>
          </p:cNvPr>
          <p:cNvSpPr/>
          <p:nvPr/>
        </p:nvSpPr>
        <p:spPr>
          <a:xfrm>
            <a:off x="502920" y="292608"/>
            <a:ext cx="1463040" cy="256032"/>
          </a:xfrm>
          <a:prstGeom prst="rect">
            <a:avLst/>
          </a:prstGeom>
          <a:solidFill>
            <a:srgbClr val="001D1E"/>
          </a:solidFill>
          <a:ln w="9525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E4682-0A56-4EB6-BF51-87EA00E5BCA3}"/>
              </a:ext>
            </a:extLst>
          </p:cNvPr>
          <p:cNvSpPr txBox="1"/>
          <p:nvPr/>
        </p:nvSpPr>
        <p:spPr>
          <a:xfrm>
            <a:off x="576072" y="310896"/>
            <a:ext cx="13167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03C4CE"/>
                </a:solidFill>
                <a:latin typeface="Calibri"/>
              </a:rPr>
              <a:t>MÓDULO 0</a:t>
            </a:r>
            <a:r>
              <a:rPr lang="es-ES" sz="800" b="1" dirty="0">
                <a:solidFill>
                  <a:srgbClr val="03C4CE"/>
                </a:solidFill>
                <a:latin typeface="Calibri"/>
              </a:rPr>
              <a:t>3</a:t>
            </a:r>
            <a:endParaRPr sz="800" b="1" i="0" dirty="0">
              <a:solidFill>
                <a:srgbClr val="03C4CE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70D001-BB81-E54F-3238-3462B10BE9B7}"/>
              </a:ext>
            </a:extLst>
          </p:cNvPr>
          <p:cNvSpPr txBox="1"/>
          <p:nvPr/>
        </p:nvSpPr>
        <p:spPr>
          <a:xfrm>
            <a:off x="502920" y="6583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dirty="0">
                <a:solidFill>
                  <a:srgbClr val="E4EDF6"/>
                </a:solidFill>
                <a:latin typeface="Calibri Light"/>
              </a:rPr>
              <a:t>Modulo Cuestionarios</a:t>
            </a:r>
            <a:endParaRPr sz="2400" b="1" i="0" dirty="0">
              <a:solidFill>
                <a:srgbClr val="E4EDF6"/>
              </a:solidFill>
              <a:latin typeface="Calibri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9222D6-34E5-EBDF-E69D-D6309E4932DE}"/>
              </a:ext>
            </a:extLst>
          </p:cNvPr>
          <p:cNvSpPr/>
          <p:nvPr/>
        </p:nvSpPr>
        <p:spPr>
          <a:xfrm>
            <a:off x="457200" y="123444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CC0F4D-5E90-0DE7-EC67-1747A570A569}"/>
              </a:ext>
            </a:extLst>
          </p:cNvPr>
          <p:cNvSpPr/>
          <p:nvPr/>
        </p:nvSpPr>
        <p:spPr>
          <a:xfrm>
            <a:off x="502920" y="1417320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7BEE5E-3D12-5100-DC27-78EB32680B65}"/>
              </a:ext>
            </a:extLst>
          </p:cNvPr>
          <p:cNvSpPr txBox="1"/>
          <p:nvPr/>
        </p:nvSpPr>
        <p:spPr>
          <a:xfrm>
            <a:off x="987552" y="138074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200" b="0" i="0" dirty="0">
                <a:solidFill>
                  <a:srgbClr val="E4EDF6"/>
                </a:solidFill>
                <a:latin typeface="Calibri"/>
              </a:rPr>
              <a:t>Los enlaces de</a:t>
            </a:r>
            <a:r>
              <a:rPr lang="es-ES" sz="1200" dirty="0">
                <a:solidFill>
                  <a:srgbClr val="E4EDF6"/>
                </a:solidFill>
                <a:latin typeface="Calibri"/>
              </a:rPr>
              <a:t> las guía pueden ser copiados y enviados al trabajador de la forma que usted considere prudente.</a:t>
            </a:r>
            <a:endParaRPr sz="1200" b="0" i="0" dirty="0">
              <a:solidFill>
                <a:srgbClr val="E4EDF6"/>
              </a:solidFill>
              <a:latin typeface="Calibri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BBB37FE-4B3C-93B9-4074-782A8F0A808E}"/>
              </a:ext>
            </a:extLst>
          </p:cNvPr>
          <p:cNvSpPr/>
          <p:nvPr/>
        </p:nvSpPr>
        <p:spPr>
          <a:xfrm>
            <a:off x="502920" y="2468880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6B0244-89C8-B8EB-2CD8-2FEE2E85CA57}"/>
              </a:ext>
            </a:extLst>
          </p:cNvPr>
          <p:cNvSpPr txBox="1"/>
          <p:nvPr/>
        </p:nvSpPr>
        <p:spPr>
          <a:xfrm>
            <a:off x="987552" y="2498575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200" b="0" i="0" dirty="0">
                <a:solidFill>
                  <a:srgbClr val="E4EDF6"/>
                </a:solidFill>
                <a:latin typeface="Calibri"/>
              </a:rPr>
              <a:t>1 mismo link de enlace </a:t>
            </a:r>
            <a:r>
              <a:rPr lang="es-ES" sz="1200" b="0" i="0" dirty="0" err="1">
                <a:solidFill>
                  <a:srgbClr val="E4EDF6"/>
                </a:solidFill>
                <a:latin typeface="Calibri"/>
              </a:rPr>
              <a:t>sivre</a:t>
            </a:r>
            <a:r>
              <a:rPr lang="es-ES" sz="1200" b="0" i="0" dirty="0">
                <a:solidFill>
                  <a:srgbClr val="E4EDF6"/>
                </a:solidFill>
                <a:latin typeface="Calibri"/>
              </a:rPr>
              <a:t> para todos los trabajadores.</a:t>
            </a:r>
            <a:endParaRPr sz="1200" b="0" i="0" dirty="0">
              <a:solidFill>
                <a:srgbClr val="E4EDF6"/>
              </a:solidFill>
              <a:latin typeface="Calibri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CBD7D46-0178-CAA3-F3A3-11E32DCCA7F6}"/>
              </a:ext>
            </a:extLst>
          </p:cNvPr>
          <p:cNvSpPr/>
          <p:nvPr/>
        </p:nvSpPr>
        <p:spPr>
          <a:xfrm>
            <a:off x="502920" y="3327076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E3C7AB-31ED-CCA7-58E4-C479972AFBF1}"/>
              </a:ext>
            </a:extLst>
          </p:cNvPr>
          <p:cNvSpPr txBox="1"/>
          <p:nvPr/>
        </p:nvSpPr>
        <p:spPr>
          <a:xfrm>
            <a:off x="987552" y="32905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200" b="0" i="0" dirty="0">
                <a:solidFill>
                  <a:srgbClr val="E4EDF6"/>
                </a:solidFill>
                <a:latin typeface="Calibri"/>
              </a:rPr>
              <a:t>No es necesario crear ninguna cuenta, los trabajadores se identificaran posteriormente con su Numero de empleado.</a:t>
            </a:r>
            <a:endParaRPr sz="1200" b="0" i="0" dirty="0">
              <a:solidFill>
                <a:srgbClr val="E4EDF6"/>
              </a:solidFill>
              <a:latin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0977F2-37AA-FE2E-7CF8-A52182C0C5BA}"/>
              </a:ext>
            </a:extLst>
          </p:cNvPr>
          <p:cNvSpPr/>
          <p:nvPr/>
        </p:nvSpPr>
        <p:spPr>
          <a:xfrm>
            <a:off x="5669280" y="1398744"/>
            <a:ext cx="6263640" cy="3655856"/>
          </a:xfrm>
          <a:prstGeom prst="rect">
            <a:avLst/>
          </a:prstGeom>
          <a:solidFill>
            <a:srgbClr val="EEF2FA"/>
          </a:solidFill>
          <a:ln w="19050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D5A7CF-67AD-2D4C-1CE2-58C27899EFD1}"/>
              </a:ext>
            </a:extLst>
          </p:cNvPr>
          <p:cNvSpPr txBox="1"/>
          <p:nvPr/>
        </p:nvSpPr>
        <p:spPr>
          <a:xfrm>
            <a:off x="5760720" y="3152140"/>
            <a:ext cx="608076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E8BAA"/>
                </a:solidFill>
                <a:latin typeface="Calibri"/>
              </a:rPr>
              <a:t>Insertar captura de pantalla aquí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D45746B0-1EAC-F568-D3E1-71784C387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9" y="1567699"/>
            <a:ext cx="6151149" cy="335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863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E17BE-A6F4-E1A9-6A81-FABB86B8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A6F7A5-533D-FB42-9388-C77763F8B2D6}"/>
              </a:ext>
            </a:extLst>
          </p:cNvPr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069C2-4DD2-2B49-926A-C25315E61D3E}"/>
              </a:ext>
            </a:extLst>
          </p:cNvPr>
          <p:cNvSpPr txBox="1"/>
          <p:nvPr/>
        </p:nvSpPr>
        <p:spPr>
          <a:xfrm>
            <a:off x="91440" y="457200"/>
            <a:ext cx="33832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 i="0" dirty="0">
                <a:solidFill>
                  <a:srgbClr val="029AA2"/>
                </a:solidFill>
                <a:latin typeface="Calibri Light"/>
              </a:rPr>
              <a:t>0</a:t>
            </a:r>
            <a:r>
              <a:rPr lang="es-ES" sz="18000" b="1" i="0" dirty="0">
                <a:solidFill>
                  <a:srgbClr val="029AA2"/>
                </a:solidFill>
                <a:latin typeface="Calibri Light"/>
              </a:rPr>
              <a:t>4</a:t>
            </a:r>
            <a:endParaRPr sz="18000" b="1" i="0" dirty="0">
              <a:solidFill>
                <a:srgbClr val="029AA2"/>
              </a:solidFill>
              <a:latin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C43D49-8C98-CD51-98D2-9397BEF07B2B}"/>
              </a:ext>
            </a:extLst>
          </p:cNvPr>
          <p:cNvSpPr txBox="1"/>
          <p:nvPr/>
        </p:nvSpPr>
        <p:spPr>
          <a:xfrm>
            <a:off x="3931920" y="2011680"/>
            <a:ext cx="7772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3C4CE"/>
                </a:solidFill>
                <a:latin typeface="Calibri"/>
              </a:rPr>
              <a:t>MÓDULO 0</a:t>
            </a:r>
            <a:r>
              <a:rPr lang="es-ES" sz="1300" b="1" i="0" dirty="0">
                <a:solidFill>
                  <a:srgbClr val="03C4CE"/>
                </a:solidFill>
                <a:latin typeface="Calibri"/>
              </a:rPr>
              <a:t>4</a:t>
            </a:r>
            <a:endParaRPr sz="1300" b="1" i="0" dirty="0">
              <a:solidFill>
                <a:srgbClr val="03C4CE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EF48C-DDFC-8E86-C4F7-8E09F5CB4AF6}"/>
              </a:ext>
            </a:extLst>
          </p:cNvPr>
          <p:cNvSpPr txBox="1"/>
          <p:nvPr/>
        </p:nvSpPr>
        <p:spPr>
          <a:xfrm>
            <a:off x="3931920" y="2514600"/>
            <a:ext cx="7955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solidFill>
                  <a:srgbClr val="E4EDF6"/>
                </a:solidFill>
              </a:rPr>
              <a:t>C</a:t>
            </a:r>
            <a:r>
              <a:rPr lang="es-MX" sz="3600" b="1" dirty="0" err="1">
                <a:solidFill>
                  <a:srgbClr val="E4EDF6"/>
                </a:solidFill>
              </a:rPr>
              <a:t>alculadora</a:t>
            </a:r>
            <a:r>
              <a:rPr lang="es-MX" sz="3600" b="1" dirty="0">
                <a:solidFill>
                  <a:srgbClr val="E4EDF6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E12929-8926-7104-BE2B-B5E933E4C3A6}"/>
              </a:ext>
            </a:extLst>
          </p:cNvPr>
          <p:cNvSpPr/>
          <p:nvPr/>
        </p:nvSpPr>
        <p:spPr>
          <a:xfrm>
            <a:off x="457200" y="342900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983787-6BAD-B844-2904-CAE2EB8AC07C}"/>
              </a:ext>
            </a:extLst>
          </p:cNvPr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4BBCF"/>
                </a:solidFill>
                <a:latin typeface="Calibri"/>
              </a:rPr>
              <a:t>3  /  9</a:t>
            </a:r>
          </a:p>
        </p:txBody>
      </p:sp>
    </p:spTree>
    <p:extLst>
      <p:ext uri="{BB962C8B-B14F-4D97-AF65-F5344CB8AC3E}">
        <p14:creationId xmlns:p14="http://schemas.microsoft.com/office/powerpoint/2010/main" val="1870916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3F7BE3-A01E-C70D-7BB4-E5B29722D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A27180-6908-CD37-E7AE-B12109BF2DE7}"/>
              </a:ext>
            </a:extLst>
          </p:cNvPr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596C46-61A8-1845-EFCB-22750D995AAA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C86F6-50B0-B12C-2F37-D2B38C2CF0B0}"/>
              </a:ext>
            </a:extLst>
          </p:cNvPr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4BBCF"/>
                </a:solidFill>
                <a:latin typeface="Calibri"/>
              </a:rPr>
              <a:t>4  / 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6739A4-A482-0CEA-AD85-A110DE1A3E58}"/>
              </a:ext>
            </a:extLst>
          </p:cNvPr>
          <p:cNvSpPr/>
          <p:nvPr/>
        </p:nvSpPr>
        <p:spPr>
          <a:xfrm>
            <a:off x="502920" y="292608"/>
            <a:ext cx="1463040" cy="256032"/>
          </a:xfrm>
          <a:prstGeom prst="rect">
            <a:avLst/>
          </a:prstGeom>
          <a:solidFill>
            <a:srgbClr val="001D1E"/>
          </a:solidFill>
          <a:ln w="9525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9E0D2-5D5A-2347-65AC-49B4D03156AA}"/>
              </a:ext>
            </a:extLst>
          </p:cNvPr>
          <p:cNvSpPr txBox="1"/>
          <p:nvPr/>
        </p:nvSpPr>
        <p:spPr>
          <a:xfrm>
            <a:off x="576072" y="310896"/>
            <a:ext cx="13167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03C4CE"/>
                </a:solidFill>
                <a:latin typeface="Calibri"/>
              </a:rPr>
              <a:t>MÓDULO 0</a:t>
            </a:r>
            <a:r>
              <a:rPr lang="es-ES" sz="800" b="1" i="0" dirty="0">
                <a:solidFill>
                  <a:srgbClr val="03C4CE"/>
                </a:solidFill>
                <a:latin typeface="Calibri"/>
              </a:rPr>
              <a:t>4</a:t>
            </a:r>
            <a:endParaRPr sz="800" b="1" i="0" dirty="0">
              <a:solidFill>
                <a:srgbClr val="03C4CE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0EB23-5741-57CF-90DF-1965EA6DFD45}"/>
              </a:ext>
            </a:extLst>
          </p:cNvPr>
          <p:cNvSpPr txBox="1"/>
          <p:nvPr/>
        </p:nvSpPr>
        <p:spPr>
          <a:xfrm>
            <a:off x="502920" y="6583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dirty="0">
                <a:solidFill>
                  <a:srgbClr val="E4EDF6"/>
                </a:solidFill>
                <a:latin typeface="Calibri Light"/>
              </a:rPr>
              <a:t>Modulo Calculadora</a:t>
            </a:r>
            <a:endParaRPr sz="2400" b="1" i="0" dirty="0">
              <a:solidFill>
                <a:srgbClr val="E4EDF6"/>
              </a:solidFill>
              <a:latin typeface="Calibri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A830F3-550A-631A-8E96-2FBE3702F21A}"/>
              </a:ext>
            </a:extLst>
          </p:cNvPr>
          <p:cNvSpPr/>
          <p:nvPr/>
        </p:nvSpPr>
        <p:spPr>
          <a:xfrm>
            <a:off x="457200" y="123444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A461BBB-98DF-D290-53C9-DDE3CEA9E0CE}"/>
              </a:ext>
            </a:extLst>
          </p:cNvPr>
          <p:cNvSpPr/>
          <p:nvPr/>
        </p:nvSpPr>
        <p:spPr>
          <a:xfrm>
            <a:off x="502920" y="1417320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26D9998-223C-48B6-24A8-5943D445B1A5}"/>
              </a:ext>
            </a:extLst>
          </p:cNvPr>
          <p:cNvSpPr/>
          <p:nvPr/>
        </p:nvSpPr>
        <p:spPr>
          <a:xfrm>
            <a:off x="502920" y="2468880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C11292-7E60-CCC9-A278-9736A8D78C97}"/>
              </a:ext>
            </a:extLst>
          </p:cNvPr>
          <p:cNvSpPr/>
          <p:nvPr/>
        </p:nvSpPr>
        <p:spPr>
          <a:xfrm>
            <a:off x="5669280" y="1398744"/>
            <a:ext cx="6263640" cy="3655856"/>
          </a:xfrm>
          <a:prstGeom prst="rect">
            <a:avLst/>
          </a:prstGeom>
          <a:solidFill>
            <a:srgbClr val="EEF2FA"/>
          </a:solidFill>
          <a:ln w="19050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F6C719-AD44-3BE1-73CD-8DE5B6A07E62}"/>
              </a:ext>
            </a:extLst>
          </p:cNvPr>
          <p:cNvSpPr txBox="1"/>
          <p:nvPr/>
        </p:nvSpPr>
        <p:spPr>
          <a:xfrm>
            <a:off x="5760720" y="3152140"/>
            <a:ext cx="608076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E8BAA"/>
                </a:solidFill>
                <a:latin typeface="Calibri"/>
              </a:rPr>
              <a:t>Insertar captura de pantalla aquí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50F99B3-73CA-3D9B-8EDF-AC451EBEF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1408852"/>
            <a:ext cx="6161758" cy="3349415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27B657DD-EDF3-8E28-5BC1-12B9B32E5481}"/>
              </a:ext>
            </a:extLst>
          </p:cNvPr>
          <p:cNvSpPr txBox="1"/>
          <p:nvPr/>
        </p:nvSpPr>
        <p:spPr>
          <a:xfrm>
            <a:off x="850392" y="1385885"/>
            <a:ext cx="4717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E4EDF6"/>
                </a:solidFill>
              </a:rPr>
              <a:t>En el modulo calculadora </a:t>
            </a:r>
            <a:r>
              <a:rPr lang="es-ES" sz="1200" dirty="0" err="1">
                <a:solidFill>
                  <a:srgbClr val="E4EDF6"/>
                </a:solidFill>
              </a:rPr>
              <a:t>pudemos</a:t>
            </a:r>
            <a:r>
              <a:rPr lang="es-ES" sz="1200" dirty="0">
                <a:solidFill>
                  <a:srgbClr val="E4EDF6"/>
                </a:solidFill>
              </a:rPr>
              <a:t> ver el numero de trabajadores a encuestar, además de una lista sugerida.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FB0B0A55-D38F-F5E5-1EB8-3AF6B8A7C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016653"/>
            <a:ext cx="4449741" cy="1548235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27B657DD-EDF3-8E28-5BC1-12B9B32E5481}"/>
              </a:ext>
            </a:extLst>
          </p:cNvPr>
          <p:cNvSpPr txBox="1"/>
          <p:nvPr/>
        </p:nvSpPr>
        <p:spPr>
          <a:xfrm>
            <a:off x="850392" y="2496200"/>
            <a:ext cx="47170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E4EDF6"/>
                </a:solidFill>
              </a:rPr>
              <a:t>Podemos descargar esta muestra en formato Excel.</a:t>
            </a:r>
          </a:p>
        </p:txBody>
      </p:sp>
    </p:spTree>
    <p:extLst>
      <p:ext uri="{BB962C8B-B14F-4D97-AF65-F5344CB8AC3E}">
        <p14:creationId xmlns:p14="http://schemas.microsoft.com/office/powerpoint/2010/main" val="3173274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8BA8B-707D-FEAC-C66C-C9FFA19BF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764A40-44CB-D1FE-6E01-7EE3DC641C61}"/>
              </a:ext>
            </a:extLst>
          </p:cNvPr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62EE2-B5B3-FD73-AFC6-F94C0F645EA0}"/>
              </a:ext>
            </a:extLst>
          </p:cNvPr>
          <p:cNvSpPr txBox="1"/>
          <p:nvPr/>
        </p:nvSpPr>
        <p:spPr>
          <a:xfrm>
            <a:off x="91440" y="457200"/>
            <a:ext cx="33832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 i="0" dirty="0">
                <a:solidFill>
                  <a:srgbClr val="029AA2"/>
                </a:solidFill>
                <a:latin typeface="Calibri Light"/>
              </a:rPr>
              <a:t>0</a:t>
            </a:r>
            <a:r>
              <a:rPr lang="es-ES" sz="18000" b="1" dirty="0">
                <a:solidFill>
                  <a:srgbClr val="029AA2"/>
                </a:solidFill>
                <a:latin typeface="Calibri Light"/>
              </a:rPr>
              <a:t>5</a:t>
            </a:r>
            <a:endParaRPr sz="18000" b="1" i="0" dirty="0">
              <a:solidFill>
                <a:srgbClr val="029AA2"/>
              </a:solidFill>
              <a:latin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0F763D-E38A-8B4B-08A7-1F42F879A9ED}"/>
              </a:ext>
            </a:extLst>
          </p:cNvPr>
          <p:cNvSpPr txBox="1"/>
          <p:nvPr/>
        </p:nvSpPr>
        <p:spPr>
          <a:xfrm>
            <a:off x="3931920" y="2011680"/>
            <a:ext cx="7772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300" b="1" i="0" dirty="0">
                <a:solidFill>
                  <a:srgbClr val="03C4CE"/>
                </a:solidFill>
                <a:latin typeface="Calibri"/>
              </a:rPr>
              <a:t>MODULO 05</a:t>
            </a:r>
            <a:endParaRPr sz="1300" b="1" i="0" dirty="0">
              <a:solidFill>
                <a:srgbClr val="03C4CE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0CB72F-CB1F-EF18-E774-FFED9D187F48}"/>
              </a:ext>
            </a:extLst>
          </p:cNvPr>
          <p:cNvSpPr txBox="1"/>
          <p:nvPr/>
        </p:nvSpPr>
        <p:spPr>
          <a:xfrm>
            <a:off x="3931920" y="2514600"/>
            <a:ext cx="7955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solidFill>
                  <a:srgbClr val="E4EDF6"/>
                </a:solidFill>
              </a:rPr>
              <a:t>Responder cuestionarios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BEB495-BB6C-B953-C970-004BAA5D8F5D}"/>
              </a:ext>
            </a:extLst>
          </p:cNvPr>
          <p:cNvSpPr/>
          <p:nvPr/>
        </p:nvSpPr>
        <p:spPr>
          <a:xfrm>
            <a:off x="457200" y="342900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E45319-A240-D8FD-2456-4692568A4923}"/>
              </a:ext>
            </a:extLst>
          </p:cNvPr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4BBCF"/>
                </a:solidFill>
                <a:latin typeface="Calibri"/>
              </a:rPr>
              <a:t>3  /  9</a:t>
            </a:r>
          </a:p>
        </p:txBody>
      </p:sp>
    </p:spTree>
    <p:extLst>
      <p:ext uri="{BB962C8B-B14F-4D97-AF65-F5344CB8AC3E}">
        <p14:creationId xmlns:p14="http://schemas.microsoft.com/office/powerpoint/2010/main" val="1693640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583278-F6F1-B677-113D-807E909AB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A0D083-AA07-B930-C181-E44E5C297C83}"/>
              </a:ext>
            </a:extLst>
          </p:cNvPr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4348D3-51D8-2D5C-C79B-DC1B0AACB3C5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7DC663-A506-2242-6E3E-20924471CA81}"/>
              </a:ext>
            </a:extLst>
          </p:cNvPr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4BBCF"/>
                </a:solidFill>
                <a:latin typeface="Calibri"/>
              </a:rPr>
              <a:t>4  / 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2C2CCA-43EE-8752-7083-3F6D1195D57D}"/>
              </a:ext>
            </a:extLst>
          </p:cNvPr>
          <p:cNvSpPr/>
          <p:nvPr/>
        </p:nvSpPr>
        <p:spPr>
          <a:xfrm>
            <a:off x="502920" y="292608"/>
            <a:ext cx="1463040" cy="256032"/>
          </a:xfrm>
          <a:prstGeom prst="rect">
            <a:avLst/>
          </a:prstGeom>
          <a:solidFill>
            <a:srgbClr val="001D1E"/>
          </a:solidFill>
          <a:ln w="9525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535A08-CA9B-5BCF-C30D-0C3E6AE831F8}"/>
              </a:ext>
            </a:extLst>
          </p:cNvPr>
          <p:cNvSpPr txBox="1"/>
          <p:nvPr/>
        </p:nvSpPr>
        <p:spPr>
          <a:xfrm>
            <a:off x="576072" y="310896"/>
            <a:ext cx="13167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03C4CE"/>
                </a:solidFill>
                <a:latin typeface="Calibri"/>
              </a:rPr>
              <a:t>MÓDULO 0</a:t>
            </a:r>
            <a:r>
              <a:rPr lang="es-ES" sz="800" b="1" dirty="0">
                <a:solidFill>
                  <a:srgbClr val="03C4CE"/>
                </a:solidFill>
                <a:latin typeface="Calibri"/>
              </a:rPr>
              <a:t>5</a:t>
            </a:r>
            <a:endParaRPr sz="800" b="1" i="0" dirty="0">
              <a:solidFill>
                <a:srgbClr val="03C4CE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CBC2B2-42DA-44CB-BCCC-4D4BC406BA29}"/>
              </a:ext>
            </a:extLst>
          </p:cNvPr>
          <p:cNvSpPr txBox="1"/>
          <p:nvPr/>
        </p:nvSpPr>
        <p:spPr>
          <a:xfrm>
            <a:off x="502920" y="6583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dirty="0">
                <a:solidFill>
                  <a:srgbClr val="E4EDF6"/>
                </a:solidFill>
                <a:latin typeface="Calibri Light"/>
              </a:rPr>
              <a:t>Modulo Cuestionario</a:t>
            </a:r>
            <a:endParaRPr sz="2400" b="1" i="0" dirty="0">
              <a:solidFill>
                <a:srgbClr val="E4EDF6"/>
              </a:solidFill>
              <a:latin typeface="Calibri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B29556-062F-2ACB-642C-2641C385613F}"/>
              </a:ext>
            </a:extLst>
          </p:cNvPr>
          <p:cNvSpPr/>
          <p:nvPr/>
        </p:nvSpPr>
        <p:spPr>
          <a:xfrm>
            <a:off x="457200" y="123444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2E2F98-5D31-D115-35F5-8505D411FBB8}"/>
              </a:ext>
            </a:extLst>
          </p:cNvPr>
          <p:cNvSpPr/>
          <p:nvPr/>
        </p:nvSpPr>
        <p:spPr>
          <a:xfrm>
            <a:off x="502920" y="1417320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BAB8D49-DB0D-F83C-4C64-AF03F05D147C}"/>
              </a:ext>
            </a:extLst>
          </p:cNvPr>
          <p:cNvSpPr txBox="1"/>
          <p:nvPr/>
        </p:nvSpPr>
        <p:spPr>
          <a:xfrm>
            <a:off x="850392" y="1385885"/>
            <a:ext cx="10881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E4EDF6"/>
                </a:solidFill>
              </a:rPr>
              <a:t>Al abrir un link del cuestionario, se nos pedirá identificarnos con el numero de trabajador y después confirmar nuestra identidad. Esto para guardar nuestras respuestas en el lugar indicado de la base de datos. Debe comenzar siempre enviando el link de la Guia V.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1944E42-A6D9-29AD-2F7C-AD1D77A3F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84" y="2085644"/>
            <a:ext cx="4877223" cy="416850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C68862C-2ABD-470B-F2C9-592D71386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66" y="2085644"/>
            <a:ext cx="4421182" cy="427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333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3F87D5-4E4F-0879-F26C-99EFFE411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DEFCBC-CBAD-32E9-DEFB-7375BDB78313}"/>
              </a:ext>
            </a:extLst>
          </p:cNvPr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32FB7A-F14B-9A57-267C-9E9AF03DBED9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6FA72C-737D-AD28-747F-8AD4AB43E95D}"/>
              </a:ext>
            </a:extLst>
          </p:cNvPr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A4BBCF"/>
                </a:solidFill>
                <a:latin typeface="Calibri"/>
              </a:rPr>
              <a:t>4  / 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42BBC1-F0FB-8FDD-3535-266DB4D25591}"/>
              </a:ext>
            </a:extLst>
          </p:cNvPr>
          <p:cNvSpPr/>
          <p:nvPr/>
        </p:nvSpPr>
        <p:spPr>
          <a:xfrm>
            <a:off x="502920" y="292608"/>
            <a:ext cx="1463040" cy="256032"/>
          </a:xfrm>
          <a:prstGeom prst="rect">
            <a:avLst/>
          </a:prstGeom>
          <a:solidFill>
            <a:srgbClr val="001D1E"/>
          </a:solidFill>
          <a:ln w="9525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F6D3E6-914C-B875-AC9A-FF3DBACE42FE}"/>
              </a:ext>
            </a:extLst>
          </p:cNvPr>
          <p:cNvSpPr txBox="1"/>
          <p:nvPr/>
        </p:nvSpPr>
        <p:spPr>
          <a:xfrm>
            <a:off x="576072" y="310896"/>
            <a:ext cx="13167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03C4CE"/>
                </a:solidFill>
                <a:latin typeface="Calibri"/>
              </a:rPr>
              <a:t>MÓDULO 0</a:t>
            </a:r>
            <a:r>
              <a:rPr lang="es-ES" sz="800" b="1" dirty="0">
                <a:solidFill>
                  <a:srgbClr val="03C4CE"/>
                </a:solidFill>
                <a:latin typeface="Calibri"/>
              </a:rPr>
              <a:t>5</a:t>
            </a:r>
            <a:endParaRPr sz="800" b="1" i="0" dirty="0">
              <a:solidFill>
                <a:srgbClr val="03C4CE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2E188-CA52-A353-3A4E-3D819F7B9F29}"/>
              </a:ext>
            </a:extLst>
          </p:cNvPr>
          <p:cNvSpPr txBox="1"/>
          <p:nvPr/>
        </p:nvSpPr>
        <p:spPr>
          <a:xfrm>
            <a:off x="502920" y="6583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dirty="0">
                <a:solidFill>
                  <a:srgbClr val="E4EDF6"/>
                </a:solidFill>
                <a:latin typeface="Calibri Light"/>
              </a:rPr>
              <a:t>Modulo Cuestionario</a:t>
            </a:r>
            <a:endParaRPr sz="2400" b="1" i="0" dirty="0">
              <a:solidFill>
                <a:srgbClr val="E4EDF6"/>
              </a:solidFill>
              <a:latin typeface="Calibri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9971A7-8BE9-DFCC-0CA1-50775C15D0AB}"/>
              </a:ext>
            </a:extLst>
          </p:cNvPr>
          <p:cNvSpPr/>
          <p:nvPr/>
        </p:nvSpPr>
        <p:spPr>
          <a:xfrm>
            <a:off x="457200" y="123444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A9AF1F-AAB6-D61A-B057-9EE99FD5D6BC}"/>
              </a:ext>
            </a:extLst>
          </p:cNvPr>
          <p:cNvSpPr/>
          <p:nvPr/>
        </p:nvSpPr>
        <p:spPr>
          <a:xfrm>
            <a:off x="502920" y="1417320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b="1" dirty="0">
                <a:solidFill>
                  <a:srgbClr val="FFFFFF"/>
                </a:solidFill>
                <a:latin typeface="Calibri"/>
              </a:rPr>
              <a:t>2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E2186AB-E45C-D0C5-B9B6-3315EA8D3C88}"/>
              </a:ext>
            </a:extLst>
          </p:cNvPr>
          <p:cNvSpPr txBox="1"/>
          <p:nvPr/>
        </p:nvSpPr>
        <p:spPr>
          <a:xfrm>
            <a:off x="850392" y="1385885"/>
            <a:ext cx="10881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E4EDF6"/>
                </a:solidFill>
              </a:rPr>
              <a:t>Contesta las preguntas solicitadas hasta terminar la guía.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F5B9788-A1C0-1E4D-6923-DB90E3BA9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666" y="1975703"/>
            <a:ext cx="5156200" cy="428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280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6874CA-591C-0626-2D56-EF5E1A0F0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AAD64B-7D51-4D2E-5971-447C41B7E185}"/>
              </a:ext>
            </a:extLst>
          </p:cNvPr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BE1DF-6753-7C19-6A0E-E6B4C2C11278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D03EF-E5C8-C67D-92DC-8B9099BA6B4C}"/>
              </a:ext>
            </a:extLst>
          </p:cNvPr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4BBCF"/>
                </a:solidFill>
                <a:latin typeface="Calibri"/>
              </a:rPr>
              <a:t>4  / 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5A49B9-545A-366B-33EF-8AF2DC6FADE6}"/>
              </a:ext>
            </a:extLst>
          </p:cNvPr>
          <p:cNvSpPr/>
          <p:nvPr/>
        </p:nvSpPr>
        <p:spPr>
          <a:xfrm>
            <a:off x="502920" y="292608"/>
            <a:ext cx="1463040" cy="256032"/>
          </a:xfrm>
          <a:prstGeom prst="rect">
            <a:avLst/>
          </a:prstGeom>
          <a:solidFill>
            <a:srgbClr val="001D1E"/>
          </a:solidFill>
          <a:ln w="9525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D73FD9-D460-4768-D99D-E6C4E41859B3}"/>
              </a:ext>
            </a:extLst>
          </p:cNvPr>
          <p:cNvSpPr txBox="1"/>
          <p:nvPr/>
        </p:nvSpPr>
        <p:spPr>
          <a:xfrm>
            <a:off x="576072" y="310896"/>
            <a:ext cx="13167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03C4CE"/>
                </a:solidFill>
                <a:latin typeface="Calibri"/>
              </a:rPr>
              <a:t>MÓDULO 0</a:t>
            </a:r>
            <a:r>
              <a:rPr lang="es-ES" sz="800" b="1" dirty="0">
                <a:solidFill>
                  <a:srgbClr val="03C4CE"/>
                </a:solidFill>
                <a:latin typeface="Calibri"/>
              </a:rPr>
              <a:t>5</a:t>
            </a:r>
            <a:endParaRPr sz="800" b="1" i="0" dirty="0">
              <a:solidFill>
                <a:srgbClr val="03C4CE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11BBF4-C4F5-BB37-5D4B-8D384A770A41}"/>
              </a:ext>
            </a:extLst>
          </p:cNvPr>
          <p:cNvSpPr txBox="1"/>
          <p:nvPr/>
        </p:nvSpPr>
        <p:spPr>
          <a:xfrm>
            <a:off x="502920" y="6583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dirty="0">
                <a:solidFill>
                  <a:srgbClr val="E4EDF6"/>
                </a:solidFill>
                <a:latin typeface="Calibri Light"/>
              </a:rPr>
              <a:t>Modulo Cuestionario</a:t>
            </a:r>
            <a:endParaRPr sz="2400" b="1" i="0" dirty="0">
              <a:solidFill>
                <a:srgbClr val="E4EDF6"/>
              </a:solidFill>
              <a:latin typeface="Calibri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5F76B-5C37-7D94-5F8F-1724000A1FCC}"/>
              </a:ext>
            </a:extLst>
          </p:cNvPr>
          <p:cNvSpPr/>
          <p:nvPr/>
        </p:nvSpPr>
        <p:spPr>
          <a:xfrm>
            <a:off x="457200" y="123444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A749E66-E106-9801-91B0-FAC9EACBF878}"/>
              </a:ext>
            </a:extLst>
          </p:cNvPr>
          <p:cNvSpPr/>
          <p:nvPr/>
        </p:nvSpPr>
        <p:spPr>
          <a:xfrm>
            <a:off x="502920" y="1417320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b="1" dirty="0">
                <a:solidFill>
                  <a:srgbClr val="FFFFFF"/>
                </a:solidFill>
                <a:latin typeface="Calibri"/>
              </a:rPr>
              <a:t>3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48D3838-ACB4-4167-4878-EE74801264B3}"/>
              </a:ext>
            </a:extLst>
          </p:cNvPr>
          <p:cNvSpPr txBox="1"/>
          <p:nvPr/>
        </p:nvSpPr>
        <p:spPr>
          <a:xfrm>
            <a:off x="850392" y="1385885"/>
            <a:ext cx="10881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E4EDF6"/>
                </a:solidFill>
              </a:rPr>
              <a:t>Cada inicio de un cuestionario te </a:t>
            </a:r>
            <a:r>
              <a:rPr lang="es-ES" sz="1200" dirty="0" err="1">
                <a:solidFill>
                  <a:srgbClr val="E4EDF6"/>
                </a:solidFill>
              </a:rPr>
              <a:t>pedira</a:t>
            </a:r>
            <a:r>
              <a:rPr lang="es-ES" sz="1200" dirty="0">
                <a:solidFill>
                  <a:srgbClr val="E4EDF6"/>
                </a:solidFill>
              </a:rPr>
              <a:t> identificarte.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6CD789A-C62A-7FEC-3667-BCE717331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84" y="2085644"/>
            <a:ext cx="4877223" cy="416850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FB569BF-A183-D0BA-1FAB-1AE962BEE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66" y="2085644"/>
            <a:ext cx="4421182" cy="427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44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52EBCA-CED3-FF08-79B8-FF38760D8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554E4B-B1E5-6BB9-0623-C2DE911797AB}"/>
              </a:ext>
            </a:extLst>
          </p:cNvPr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9725D6-C718-42A2-92E6-58A9AF0EAD81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EA94F1-850D-4EA0-6199-91159E0A0271}"/>
              </a:ext>
            </a:extLst>
          </p:cNvPr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4BBCF"/>
                </a:solidFill>
                <a:latin typeface="Calibri"/>
              </a:rPr>
              <a:t>4  / 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4E5B7F-00FE-76DC-662F-02BA15D54F4B}"/>
              </a:ext>
            </a:extLst>
          </p:cNvPr>
          <p:cNvSpPr/>
          <p:nvPr/>
        </p:nvSpPr>
        <p:spPr>
          <a:xfrm>
            <a:off x="502920" y="292608"/>
            <a:ext cx="1463040" cy="256032"/>
          </a:xfrm>
          <a:prstGeom prst="rect">
            <a:avLst/>
          </a:prstGeom>
          <a:solidFill>
            <a:srgbClr val="001D1E"/>
          </a:solidFill>
          <a:ln w="9525">
            <a:solidFill>
              <a:srgbClr val="03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94BB8-7888-11BF-6E6A-473D97CC100F}"/>
              </a:ext>
            </a:extLst>
          </p:cNvPr>
          <p:cNvSpPr txBox="1"/>
          <p:nvPr/>
        </p:nvSpPr>
        <p:spPr>
          <a:xfrm>
            <a:off x="576072" y="310896"/>
            <a:ext cx="13167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03C4CE"/>
                </a:solidFill>
                <a:latin typeface="Calibri"/>
              </a:rPr>
              <a:t>MÓDULO 0</a:t>
            </a:r>
            <a:r>
              <a:rPr lang="es-ES" sz="800" b="1" dirty="0">
                <a:solidFill>
                  <a:srgbClr val="03C4CE"/>
                </a:solidFill>
                <a:latin typeface="Calibri"/>
              </a:rPr>
              <a:t>5</a:t>
            </a:r>
            <a:endParaRPr sz="800" b="1" i="0" dirty="0">
              <a:solidFill>
                <a:srgbClr val="03C4CE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B671D4-3F83-4A74-27BE-30B17B8C8ADB}"/>
              </a:ext>
            </a:extLst>
          </p:cNvPr>
          <p:cNvSpPr txBox="1"/>
          <p:nvPr/>
        </p:nvSpPr>
        <p:spPr>
          <a:xfrm>
            <a:off x="502920" y="6583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dirty="0">
                <a:solidFill>
                  <a:srgbClr val="E4EDF6"/>
                </a:solidFill>
                <a:latin typeface="Calibri Light"/>
              </a:rPr>
              <a:t>Modulo Cuestionario</a:t>
            </a:r>
            <a:endParaRPr sz="2400" b="1" i="0" dirty="0">
              <a:solidFill>
                <a:srgbClr val="E4EDF6"/>
              </a:solidFill>
              <a:latin typeface="Calibri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2AD346-812D-D87C-9E4D-AE68107A9A95}"/>
              </a:ext>
            </a:extLst>
          </p:cNvPr>
          <p:cNvSpPr/>
          <p:nvPr/>
        </p:nvSpPr>
        <p:spPr>
          <a:xfrm>
            <a:off x="457200" y="1234440"/>
            <a:ext cx="11274552" cy="180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61EA7E-C5C4-184F-C5C7-1E52DF859B22}"/>
              </a:ext>
            </a:extLst>
          </p:cNvPr>
          <p:cNvSpPr/>
          <p:nvPr/>
        </p:nvSpPr>
        <p:spPr>
          <a:xfrm>
            <a:off x="502920" y="1417320"/>
            <a:ext cx="347472" cy="347472"/>
          </a:xfrm>
          <a:prstGeom prst="ellipse">
            <a:avLst/>
          </a:prstGeom>
          <a:solidFill>
            <a:srgbClr val="03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b="1" dirty="0">
                <a:solidFill>
                  <a:srgbClr val="FFFFFF"/>
                </a:solidFill>
                <a:latin typeface="Calibri"/>
              </a:rPr>
              <a:t>4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36854A8-395D-83E0-0D41-2FECCE09E2B4}"/>
              </a:ext>
            </a:extLst>
          </p:cNvPr>
          <p:cNvSpPr txBox="1"/>
          <p:nvPr/>
        </p:nvSpPr>
        <p:spPr>
          <a:xfrm>
            <a:off x="850392" y="1385885"/>
            <a:ext cx="10881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E4EDF6"/>
                </a:solidFill>
              </a:rPr>
              <a:t>En ciertas ocasiones pedirá tomar foto para confirmar identidad. Esta opción puede ser omitida dependiendo la disposición de la planta.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73BCD99-07E2-ED7A-514D-46388762C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996" y="1901088"/>
            <a:ext cx="5220152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732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693</Words>
  <Application>Microsoft Office PowerPoint</Application>
  <PresentationFormat>Personalizado</PresentationFormat>
  <Paragraphs>125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CARLOS ALBERTO GONZALEZ BECERRA</cp:lastModifiedBy>
  <cp:revision>3</cp:revision>
  <dcterms:created xsi:type="dcterms:W3CDTF">2013-01-27T09:14:16Z</dcterms:created>
  <dcterms:modified xsi:type="dcterms:W3CDTF">2026-05-28T22:03:43Z</dcterms:modified>
  <cp:category/>
</cp:coreProperties>
</file>